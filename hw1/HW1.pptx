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73" r:id="rId9"/>
    <p:sldId id="274" r:id="rId10"/>
    <p:sldId id="280" r:id="rId11"/>
    <p:sldId id="281" r:id="rId12"/>
    <p:sldId id="282" r:id="rId13"/>
    <p:sldId id="283" r:id="rId14"/>
    <p:sldId id="261" r:id="rId15"/>
    <p:sldId id="263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4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86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8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 b="1"/>
              <a:t>《深度学习基础与实践》</a:t>
            </a:r>
            <a:br>
              <a:rPr lang="zh-CN" altLang="zh-CN" b="1"/>
            </a:br>
            <a:r>
              <a:rPr lang="zh-CN" altLang="zh-CN" b="1"/>
              <a:t>HW1</a:t>
            </a:r>
            <a:endParaRPr lang="zh-CN" altLang="zh-CN" b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55395" y="3929380"/>
            <a:ext cx="9799320" cy="1828165"/>
          </a:xfrm>
        </p:spPr>
        <p:txBody>
          <a:bodyPr>
            <a:noAutofit/>
          </a:bodyPr>
          <a:p>
            <a:r>
              <a:rPr lang="zh-CN" altLang="en-US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助教：</a:t>
            </a:r>
            <a:r>
              <a:rPr lang="zh-CN" altLang="en-US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云耀鑫</a:t>
            </a:r>
            <a:endParaRPr lang="zh-CN" altLang="en-US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邮箱：</a:t>
            </a:r>
            <a:r>
              <a:rPr lang="en-US" altLang="zh-CN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yuhezhi</a:t>
            </a:r>
            <a:r>
              <a:rPr lang="zh-CN" altLang="en-US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@buaa.edu.cn</a:t>
            </a:r>
            <a:endParaRPr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pc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 lang="en-US" altLang="zh-CN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年3月</a:t>
            </a:r>
            <a:r>
              <a:rPr lang="en-US" altLang="zh-CN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r>
              <a:rPr lang="zh-CN" altLang="en-US" spc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800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800" spc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2686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作业获取地址</a:t>
            </a:r>
            <a:endParaRPr lang="zh-CN" altLang="en-US" sz="3200" b="1"/>
          </a:p>
        </p:txBody>
      </p:sp>
      <p:sp>
        <p:nvSpPr>
          <p:cNvPr id="3" name="文本框 2"/>
          <p:cNvSpPr txBox="1"/>
          <p:nvPr/>
        </p:nvSpPr>
        <p:spPr>
          <a:xfrm>
            <a:off x="486410" y="1179830"/>
            <a:ext cx="11074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Gitee: https://gitee.com/li-ruyin/buaadl-2025-spring-assignment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372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Lab1: </a:t>
            </a:r>
            <a:r>
              <a:rPr lang="zh-CN" altLang="en-US" sz="3200" b="1"/>
              <a:t>泰坦尼克号</a:t>
            </a:r>
            <a:r>
              <a:rPr lang="zh-CN" altLang="en-US" sz="3200" b="1"/>
              <a:t>生还预测（</a:t>
            </a:r>
            <a:r>
              <a:rPr lang="en-US" altLang="zh-CN" sz="3200" b="1"/>
              <a:t>MLP</a:t>
            </a:r>
            <a:r>
              <a:rPr lang="zh-CN" altLang="en-US" sz="3200" b="1"/>
              <a:t>用于分类任务）</a:t>
            </a:r>
            <a:r>
              <a:rPr lang="en-US" altLang="zh-CN" sz="2800" b="1"/>
              <a:t> </a:t>
            </a:r>
            <a:endParaRPr lang="en-US" altLang="zh-CN" sz="28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80" y="1105535"/>
            <a:ext cx="8824595" cy="53397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2686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任务介绍</a:t>
            </a:r>
            <a:endParaRPr lang="zh-CN" altLang="en-US" sz="3200" b="1"/>
          </a:p>
        </p:txBody>
      </p:sp>
      <p:sp>
        <p:nvSpPr>
          <p:cNvPr id="3" name="文本框 2"/>
          <p:cNvSpPr txBox="1"/>
          <p:nvPr/>
        </p:nvSpPr>
        <p:spPr>
          <a:xfrm>
            <a:off x="405130" y="1161415"/>
            <a:ext cx="11256645" cy="163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数据集：</a:t>
            </a:r>
            <a:r>
              <a:rPr lang="en-US" altLang="zh-CN" sz="2400"/>
              <a:t>Titanic-Dataset</a:t>
            </a:r>
            <a:r>
              <a:rPr lang="zh-CN" altLang="en-US" sz="2400"/>
              <a:t>.csv</a:t>
            </a:r>
            <a:r>
              <a:rPr lang="en-US" altLang="zh-CN" sz="2400"/>
              <a:t>  </a:t>
            </a:r>
            <a:r>
              <a:rPr lang="zh-CN" altLang="en-US" sz="2400"/>
              <a:t>源自</a:t>
            </a:r>
            <a:r>
              <a:rPr lang="en-US" altLang="zh-CN" sz="2400"/>
              <a:t> 1912 </a:t>
            </a:r>
            <a:r>
              <a:rPr lang="zh-CN" altLang="en-US" sz="2400"/>
              <a:t>年泰坦尼克号沉没事故（约</a:t>
            </a:r>
            <a:r>
              <a:rPr lang="en-US" altLang="zh-CN" sz="2400"/>
              <a:t> 2224 </a:t>
            </a:r>
            <a:r>
              <a:rPr lang="zh-CN" altLang="en-US" sz="2400"/>
              <a:t>名乘客</a:t>
            </a:r>
            <a:r>
              <a:rPr lang="en-US" altLang="zh-CN" sz="2400"/>
              <a:t> / </a:t>
            </a:r>
            <a:r>
              <a:rPr lang="zh-CN" altLang="en-US" sz="2400"/>
              <a:t>船员，仅约</a:t>
            </a:r>
            <a:r>
              <a:rPr lang="en-US" altLang="zh-CN" sz="2400"/>
              <a:t> 710 </a:t>
            </a:r>
            <a:r>
              <a:rPr lang="zh-CN" altLang="en-US" sz="2400"/>
              <a:t>人生还）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格式：</a:t>
            </a:r>
            <a:r>
              <a:rPr lang="en-US" altLang="zh-CN" sz="2400"/>
              <a:t>CSV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任务类型：监督学习</a:t>
            </a:r>
            <a:r>
              <a:rPr lang="ja-JP" altLang="en-US" sz="2400"/>
              <a:t>・</a:t>
            </a:r>
            <a:r>
              <a:rPr lang="zh-CN" altLang="en-US" sz="2400"/>
              <a:t>二分类（目标：预测</a:t>
            </a:r>
            <a:r>
              <a:rPr lang="en-US" altLang="zh-CN" sz="2400"/>
              <a:t>Survived</a:t>
            </a:r>
            <a:r>
              <a:rPr lang="zh-CN" altLang="en-US" sz="2400"/>
              <a:t>：</a:t>
            </a:r>
            <a:r>
              <a:rPr lang="en-US" altLang="zh-CN" sz="2400"/>
              <a:t>0 = </a:t>
            </a:r>
            <a:r>
              <a:rPr lang="zh-CN" altLang="en-US" sz="2400"/>
              <a:t>未生还，</a:t>
            </a:r>
            <a:r>
              <a:rPr lang="en-US" altLang="zh-CN" sz="2400"/>
              <a:t>1 = </a:t>
            </a:r>
            <a:r>
              <a:rPr lang="zh-CN" altLang="en-US" sz="2400"/>
              <a:t>生还）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405130" y="3414395"/>
            <a:ext cx="604456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评估指标：分类准确率。</a:t>
            </a:r>
            <a:endParaRPr lang="zh-CN" altLang="en-US" sz="2400"/>
          </a:p>
          <a:p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要求：50个epoch内 在测试集上的分类准确率大于8</a:t>
            </a:r>
            <a:r>
              <a:rPr lang="en-US" altLang="zh-CN" sz="2400"/>
              <a:t>0</a:t>
            </a:r>
            <a:r>
              <a:rPr lang="zh-CN" altLang="en-US" sz="2400"/>
              <a:t>%。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2686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读取数据集</a:t>
            </a:r>
            <a:endParaRPr lang="zh-CN" altLang="en-US" sz="3200" b="1"/>
          </a:p>
        </p:txBody>
      </p:sp>
      <p:sp>
        <p:nvSpPr>
          <p:cNvPr id="9" name="文本框 8"/>
          <p:cNvSpPr txBox="1"/>
          <p:nvPr/>
        </p:nvSpPr>
        <p:spPr>
          <a:xfrm>
            <a:off x="3016885" y="4271645"/>
            <a:ext cx="2973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0B0F0"/>
                </a:solidFill>
              </a:rPr>
              <a:t>用于预测的特征（</a:t>
            </a:r>
            <a:r>
              <a:rPr lang="en-US" altLang="zh-CN" sz="2000">
                <a:solidFill>
                  <a:srgbClr val="00B0F0"/>
                </a:solidFill>
              </a:rPr>
              <a:t>16</a:t>
            </a:r>
            <a:r>
              <a:rPr lang="zh-CN" altLang="en-US" sz="2000">
                <a:solidFill>
                  <a:srgbClr val="00B0F0"/>
                </a:solidFill>
              </a:rPr>
              <a:t>个）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45755" y="320040"/>
            <a:ext cx="3421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安装：pip install </a:t>
            </a:r>
            <a:r>
              <a:rPr lang="en-US" altLang="zh-CN"/>
              <a:t>pandas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695" y="1188720"/>
            <a:ext cx="9890760" cy="40081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60120" y="5003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ym typeface="+mn-ea"/>
              </a:rPr>
              <a:t>数据</a:t>
            </a:r>
            <a:r>
              <a:rPr lang="zh-CN" altLang="en-US" sz="3200" b="1">
                <a:sym typeface="+mn-ea"/>
              </a:rPr>
              <a:t>类别</a:t>
            </a:r>
            <a:endParaRPr lang="zh-CN" altLang="en-US" sz="3200" b="1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0" y="1083945"/>
            <a:ext cx="7277100" cy="52882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960120" y="5003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ym typeface="+mn-ea"/>
              </a:rPr>
              <a:t>缺失值</a:t>
            </a:r>
            <a:r>
              <a:rPr lang="zh-CN" altLang="en-US" sz="3200" b="1">
                <a:sym typeface="+mn-ea"/>
              </a:rPr>
              <a:t>分析</a:t>
            </a:r>
            <a:endParaRPr lang="zh-CN" altLang="en-US" sz="3200" b="1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24000"/>
            <a:ext cx="10922000" cy="33375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数据预处理（可借助scikit-learn实现）</a:t>
            </a:r>
            <a:endParaRPr lang="zh-CN" altLang="en-US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405130" y="1084580"/>
            <a:ext cx="11290300" cy="2152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处理特征（有序类别）和标签（有序类别）</a:t>
            </a:r>
            <a:endParaRPr lang="zh-CN" altLang="en-US" sz="2400"/>
          </a:p>
          <a:p>
            <a:pPr marL="800100" lvl="1" indent="-342900" fontAlgn="auto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/>
              <a:t>OrdinalEncoder </a:t>
            </a:r>
            <a:r>
              <a:rPr lang="en-US" altLang="zh-CN" sz="2400"/>
              <a:t>: </a:t>
            </a:r>
            <a:r>
              <a:rPr lang="zh-CN" altLang="en-US" sz="2400"/>
              <a:t>可按照类别顺序将类别值映射到整数，适用于具有顺序的特征，如评分（低，中，高）可分别映射至（</a:t>
            </a:r>
            <a:r>
              <a:rPr lang="en-US" altLang="zh-CN" sz="2400"/>
              <a:t>0</a:t>
            </a:r>
            <a:r>
              <a:rPr lang="zh-CN" altLang="en-US" sz="2400"/>
              <a:t>，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  <a:r>
              <a:rPr lang="en-US" altLang="zh-CN" sz="2400"/>
              <a:t>2</a:t>
            </a:r>
            <a:r>
              <a:rPr lang="zh-CN" altLang="en-US" sz="2400"/>
              <a:t>）。</a:t>
            </a:r>
            <a:endParaRPr lang="zh-CN" altLang="en-US" sz="2400"/>
          </a:p>
          <a:p>
            <a:pPr lvl="1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sz="24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处理特征（无序类别）</a:t>
            </a:r>
            <a:endParaRPr lang="zh-CN" altLang="en-US" sz="240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/>
              <a:t>OneHotEncoder: </a:t>
            </a:r>
            <a:r>
              <a:rPr lang="zh-CN" altLang="en-US" sz="2400"/>
              <a:t>可</a:t>
            </a:r>
            <a:r>
              <a:rPr lang="en-US" altLang="zh-CN" sz="2400"/>
              <a:t>将每个类别转换为一个独热向量</a:t>
            </a:r>
            <a:r>
              <a:rPr lang="zh-CN" altLang="en-US" sz="2400"/>
              <a:t>，适用于无序的类别变量。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2303145" y="3579495"/>
            <a:ext cx="14370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红→[0, 0, 1]</a:t>
            </a:r>
            <a:endParaRPr lang="zh-CN" altLang="en-US"/>
          </a:p>
          <a:p>
            <a:r>
              <a:rPr lang="zh-CN" altLang="en-US"/>
              <a:t>绿→[0, 1, 0]</a:t>
            </a:r>
            <a:endParaRPr lang="zh-CN" altLang="en-US"/>
          </a:p>
          <a:p>
            <a:r>
              <a:rPr lang="zh-CN" altLang="en-US"/>
              <a:t>蓝→[1, 0, 0]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274185" y="3633470"/>
            <a:ext cx="1749425" cy="568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设置drop='first'，节约一个维度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220845" y="4279265"/>
            <a:ext cx="1817370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423660" y="3579495"/>
            <a:ext cx="17494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红→[0, 1]</a:t>
            </a:r>
            <a:endParaRPr lang="zh-CN" altLang="en-US"/>
          </a:p>
          <a:p>
            <a:r>
              <a:rPr lang="zh-CN" altLang="en-US"/>
              <a:t>绿→[1, 0]</a:t>
            </a:r>
            <a:endParaRPr lang="zh-CN" altLang="en-US"/>
          </a:p>
          <a:p>
            <a:r>
              <a:rPr lang="zh-CN" altLang="en-US"/>
              <a:t>蓝→[0, 0]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05130" y="4986020"/>
            <a:ext cx="11290300" cy="1047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处理特征（数值型）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/>
              <a:t>StandardScaler</a:t>
            </a:r>
            <a:r>
              <a:rPr lang="en-US" altLang="zh-CN" sz="2400"/>
              <a:t>: </a:t>
            </a:r>
            <a:r>
              <a:rPr lang="zh-CN" altLang="en-US" sz="2400"/>
              <a:t>可对数值特征进行标准化（即均值为 0，标准差为 1）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数据集划分</a:t>
            </a:r>
            <a:endParaRPr lang="zh-CN" altLang="en-US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405130" y="1084580"/>
            <a:ext cx="11290300" cy="902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按照</a:t>
            </a:r>
            <a:r>
              <a:rPr lang="en-US" altLang="zh-CN" sz="2400"/>
              <a:t>7</a:t>
            </a:r>
            <a:r>
              <a:rPr lang="zh-CN" altLang="en-US" sz="2400"/>
              <a:t>0%，</a:t>
            </a:r>
            <a:r>
              <a:rPr lang="en-US" altLang="zh-CN" sz="2400"/>
              <a:t>3</a:t>
            </a:r>
            <a:r>
              <a:rPr lang="zh-CN" altLang="en-US" sz="2400"/>
              <a:t>0%的比例将原数据集分为训练集和测试集。</a:t>
            </a:r>
            <a:endParaRPr lang="zh-CN" altLang="en-US" sz="2400"/>
          </a:p>
          <a:p>
            <a:pPr indent="0">
              <a:buFont typeface="Arial" panose="020B0604020202020204" pitchFamily="34" charset="0"/>
              <a:buNone/>
            </a:pP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30" y="1600835"/>
            <a:ext cx="7155180" cy="4229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构建</a:t>
            </a:r>
            <a:r>
              <a:rPr lang="en-US" altLang="zh-CN" sz="3200" b="1"/>
              <a:t>MLP</a:t>
            </a:r>
            <a:r>
              <a:rPr lang="zh-CN" altLang="en-US" sz="3200" b="1"/>
              <a:t>网络</a:t>
            </a:r>
            <a:endParaRPr lang="zh-CN" altLang="en-US" sz="3200" b="1"/>
          </a:p>
        </p:txBody>
      </p:sp>
      <p:sp>
        <p:nvSpPr>
          <p:cNvPr id="9" name="文本框 8"/>
          <p:cNvSpPr txBox="1"/>
          <p:nvPr/>
        </p:nvSpPr>
        <p:spPr>
          <a:xfrm>
            <a:off x="8793480" y="4748530"/>
            <a:ext cx="30333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输入层维度为特征数量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隐藏层维度可以自行设置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输出层维度为分类数量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48015" y="1150620"/>
            <a:ext cx="3578860" cy="3255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</a:rPr>
              <a:t>补全代码①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线性层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zh-CN" altLang="en-US" sz="2000">
                <a:solidFill>
                  <a:schemeClr val="tx1"/>
                </a:solidFill>
              </a:rPr>
              <a:t>torch.nn.Linear()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激活函数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zh-CN" altLang="en-US" sz="2000">
                <a:solidFill>
                  <a:schemeClr val="tx1"/>
                </a:solidFill>
              </a:rPr>
              <a:t>nn.ReLU()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思考：最后的输出需要加 softmax 吗？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自行探索合理的模型结构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70" y="807720"/>
            <a:ext cx="7353300" cy="5791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 b="1"/>
              <a:t>训练与评估</a:t>
            </a:r>
            <a:endParaRPr lang="zh-CN" sz="3200" b="1"/>
          </a:p>
        </p:txBody>
      </p:sp>
      <p:sp>
        <p:nvSpPr>
          <p:cNvPr id="17" name="文本框 16"/>
          <p:cNvSpPr txBox="1"/>
          <p:nvPr/>
        </p:nvSpPr>
        <p:spPr>
          <a:xfrm>
            <a:off x="8223885" y="3190240"/>
            <a:ext cx="3197225" cy="1457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</a:rPr>
              <a:t>补全代码</a:t>
            </a:r>
            <a:r>
              <a:rPr lang="zh-CN" altLang="en-US" sz="2000">
                <a:sym typeface="+mn-ea"/>
              </a:rPr>
              <a:t>③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chemeClr val="tx1"/>
                </a:solidFill>
              </a:rPr>
              <a:t>完成训练过程中的前向传播、损失计算、反向传播、参数更新等核心步骤</a:t>
            </a:r>
            <a:endParaRPr lang="zh-CN" sz="2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23885" y="620395"/>
            <a:ext cx="3197225" cy="2025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</a:rPr>
              <a:t>补全代码</a:t>
            </a:r>
            <a:r>
              <a:rPr lang="zh-CN" altLang="en-US" sz="2000">
                <a:sym typeface="+mn-ea"/>
              </a:rPr>
              <a:t>②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chemeClr val="tx1"/>
                </a:solidFill>
              </a:rPr>
              <a:t>完成</a:t>
            </a:r>
            <a:r>
              <a:rPr lang="en-US" altLang="zh-CN" sz="2000">
                <a:solidFill>
                  <a:schemeClr val="tx1"/>
                </a:solidFill>
              </a:rPr>
              <a:t>accuracy</a:t>
            </a:r>
            <a:r>
              <a:rPr lang="zh-CN" altLang="en-US" sz="2000">
                <a:solidFill>
                  <a:schemeClr val="tx1"/>
                </a:solidFill>
              </a:rPr>
              <a:t>函数，</a:t>
            </a:r>
            <a:r>
              <a:rPr lang="zh-CN" sz="2000">
                <a:solidFill>
                  <a:schemeClr val="tx1"/>
                </a:solidFill>
              </a:rPr>
              <a:t>计算y_hat与y_true的准确率</a:t>
            </a:r>
            <a:endParaRPr lang="zh-CN" sz="20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520" y="1971040"/>
            <a:ext cx="7162800" cy="4221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20" y="899160"/>
            <a:ext cx="6736080" cy="876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数据预处理（可借助scikit-learn实现）</a:t>
            </a:r>
            <a:endParaRPr lang="zh-CN" altLang="en-US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405130" y="1084580"/>
            <a:ext cx="11290300" cy="2152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处理特征（有序类别）和标签（有序类别）</a:t>
            </a:r>
            <a:endParaRPr lang="zh-CN" altLang="en-US" sz="2400"/>
          </a:p>
          <a:p>
            <a:pPr marL="800100" lvl="1" indent="-342900" fontAlgn="auto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/>
              <a:t>OrdinalEncoder </a:t>
            </a:r>
            <a:r>
              <a:rPr lang="en-US" altLang="zh-CN" sz="2400"/>
              <a:t>: </a:t>
            </a:r>
            <a:r>
              <a:rPr lang="zh-CN" altLang="en-US" sz="2400"/>
              <a:t>可按照类别顺序将类别值映射到整数，适用于具有顺序的特征，如评分（低，中，高）可分别映射至（</a:t>
            </a:r>
            <a:r>
              <a:rPr lang="en-US" altLang="zh-CN" sz="2400"/>
              <a:t>0</a:t>
            </a:r>
            <a:r>
              <a:rPr lang="zh-CN" altLang="en-US" sz="2400"/>
              <a:t>，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  <a:r>
              <a:rPr lang="en-US" altLang="zh-CN" sz="2400"/>
              <a:t>2</a:t>
            </a:r>
            <a:r>
              <a:rPr lang="zh-CN" altLang="en-US" sz="2400"/>
              <a:t>）。</a:t>
            </a:r>
            <a:endParaRPr lang="zh-CN" altLang="en-US" sz="2400"/>
          </a:p>
          <a:p>
            <a:pPr lvl="1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sz="24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处理特征（无序类别）</a:t>
            </a:r>
            <a:endParaRPr lang="zh-CN" altLang="en-US" sz="240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/>
              <a:t>OneHotEncoder: </a:t>
            </a:r>
            <a:r>
              <a:rPr lang="zh-CN" altLang="en-US" sz="2400"/>
              <a:t>可</a:t>
            </a:r>
            <a:r>
              <a:rPr lang="en-US" altLang="zh-CN" sz="2400"/>
              <a:t>将每个类别转换为一个独热向量</a:t>
            </a:r>
            <a:r>
              <a:rPr lang="zh-CN" altLang="en-US" sz="2400"/>
              <a:t>，适用于无序的类别变量。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2303145" y="3579495"/>
            <a:ext cx="14370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红→[0, 0, 1]</a:t>
            </a:r>
            <a:endParaRPr lang="zh-CN" altLang="en-US"/>
          </a:p>
          <a:p>
            <a:r>
              <a:rPr lang="zh-CN" altLang="en-US"/>
              <a:t>绿→[0, 1, 0]</a:t>
            </a:r>
            <a:endParaRPr lang="zh-CN" altLang="en-US"/>
          </a:p>
          <a:p>
            <a:r>
              <a:rPr lang="zh-CN" altLang="en-US"/>
              <a:t>蓝→[1, 0, 0]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274185" y="3633470"/>
            <a:ext cx="1749425" cy="568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设置drop='first'，节约一个维度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220845" y="4279265"/>
            <a:ext cx="1817370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423660" y="3579495"/>
            <a:ext cx="17494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红→[0, 1]</a:t>
            </a:r>
            <a:endParaRPr lang="zh-CN" altLang="en-US"/>
          </a:p>
          <a:p>
            <a:r>
              <a:rPr lang="zh-CN" altLang="en-US"/>
              <a:t>绿→[1, 0]</a:t>
            </a:r>
            <a:endParaRPr lang="zh-CN" altLang="en-US"/>
          </a:p>
          <a:p>
            <a:r>
              <a:rPr lang="zh-CN" altLang="en-US"/>
              <a:t>蓝→[0, 0]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05130" y="4986020"/>
            <a:ext cx="11290300" cy="1047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处理特征（数值型）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/>
              <a:t>StandardScaler</a:t>
            </a:r>
            <a:r>
              <a:rPr lang="en-US" altLang="zh-CN" sz="2400"/>
              <a:t>: </a:t>
            </a:r>
            <a:r>
              <a:rPr lang="zh-CN" altLang="en-US" sz="2400"/>
              <a:t>可对数值特征进行标准化（即均值为 0，标准差为 1）</a:t>
            </a:r>
            <a:endParaRPr lang="zh-CN" altLang="en-US" sz="24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7945755" y="320040"/>
            <a:ext cx="3421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安装：pip install scikit-learn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创建数据集类</a:t>
            </a:r>
            <a:endParaRPr lang="zh-CN" altLang="en-US" sz="32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07440"/>
            <a:ext cx="6764020" cy="52425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55585" y="2123440"/>
            <a:ext cx="425005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zh-CN" altLang="en-US" sz="2000"/>
              <a:t>配合torch.utils.data.DataLoader， 实现高效的</a:t>
            </a:r>
            <a:r>
              <a:rPr lang="zh-CN" altLang="en-US" sz="2000">
                <a:solidFill>
                  <a:srgbClr val="FF0000"/>
                </a:solidFill>
              </a:rPr>
              <a:t>批量加载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 b="1"/>
              <a:t>训练与评估</a:t>
            </a:r>
            <a:endParaRPr lang="zh-CN" sz="32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" y="1167765"/>
            <a:ext cx="9446260" cy="8934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2500630"/>
            <a:ext cx="5273040" cy="20726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085" y="2485390"/>
            <a:ext cx="5356860" cy="208788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494405" y="1483360"/>
            <a:ext cx="6301105" cy="2374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290570" y="1790700"/>
            <a:ext cx="4927600" cy="270510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3" idx="1"/>
          </p:cNvCxnSpPr>
          <p:nvPr/>
        </p:nvCxnSpPr>
        <p:spPr>
          <a:xfrm flipH="1">
            <a:off x="1315720" y="1602105"/>
            <a:ext cx="2178685" cy="9391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3888740" y="2072640"/>
            <a:ext cx="3041650" cy="418465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771525" y="4587240"/>
            <a:ext cx="4644390" cy="1457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</a:rPr>
              <a:t>补全代码②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chemeClr val="tx1"/>
                </a:solidFill>
              </a:rPr>
              <a:t>完成训练过程中的前向传播、损失计算、反向传播、参数更新等核心步骤</a:t>
            </a:r>
            <a:endParaRPr lang="zh-CN" sz="20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71590" y="4587240"/>
            <a:ext cx="4644390" cy="95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</a:rPr>
              <a:t>补全代码③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chemeClr val="tx1"/>
                </a:solidFill>
              </a:rPr>
              <a:t>完成模型评估的损失计算</a:t>
            </a:r>
            <a:endParaRPr lang="zh-CN" sz="20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076055" y="3723005"/>
            <a:ext cx="1409065" cy="264795"/>
          </a:xfrm>
          <a:prstGeom prst="rect">
            <a:avLst/>
          </a:prstGeom>
          <a:noFill/>
          <a:ln w="190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371590" y="5769610"/>
            <a:ext cx="6042660" cy="95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</a:rPr>
              <a:t>补全代码④</a:t>
            </a:r>
            <a:endParaRPr lang="zh-CN" altLang="en-US" sz="2000">
              <a:solidFill>
                <a:schemeClr val="tx1"/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chemeClr val="tx1"/>
                </a:solidFill>
              </a:rPr>
              <a:t>完成</a:t>
            </a:r>
            <a:r>
              <a:rPr lang="en-US" altLang="zh-CN" sz="2000">
                <a:solidFill>
                  <a:schemeClr val="tx1"/>
                </a:solidFill>
              </a:rPr>
              <a:t>accuracy</a:t>
            </a:r>
            <a:r>
              <a:rPr lang="zh-CN" altLang="en-US" sz="2000">
                <a:solidFill>
                  <a:schemeClr val="tx1"/>
                </a:solidFill>
              </a:rPr>
              <a:t>函数，</a:t>
            </a:r>
            <a:r>
              <a:rPr lang="zh-CN" sz="2000">
                <a:solidFill>
                  <a:schemeClr val="tx1"/>
                </a:solidFill>
              </a:rPr>
              <a:t>计算y_hat与y_true的准确率</a:t>
            </a:r>
            <a:endParaRPr lang="zh-CN" sz="2000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19" idx="2"/>
          </p:cNvCxnSpPr>
          <p:nvPr/>
        </p:nvCxnSpPr>
        <p:spPr>
          <a:xfrm>
            <a:off x="9780905" y="3987800"/>
            <a:ext cx="8890" cy="2201545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 b="1"/>
              <a:t>范例结果</a:t>
            </a:r>
            <a:endParaRPr lang="zh-CN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7113905" y="4773295"/>
            <a:ext cx="312991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train accuaracy: </a:t>
            </a:r>
            <a:r>
              <a:rPr lang="en-US" altLang="zh-CN" sz="2000"/>
              <a:t>81.3%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test accuaracy:  </a:t>
            </a:r>
            <a:r>
              <a:rPr lang="en-US" sz="2000">
                <a:sym typeface="+mn-ea"/>
              </a:rPr>
              <a:t>81.4</a:t>
            </a:r>
            <a:r>
              <a:rPr lang="en-US" altLang="zh-CN" sz="2000">
                <a:sym typeface="+mn-ea"/>
              </a:rPr>
              <a:t>%</a:t>
            </a:r>
            <a:endParaRPr lang="en-US" altLang="zh-CN" sz="20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1324610"/>
            <a:ext cx="10229215" cy="33261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372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Lab2: </a:t>
            </a:r>
            <a:r>
              <a:rPr lang="zh-CN" altLang="en-US" sz="3200" b="1"/>
              <a:t>出租车价格</a:t>
            </a:r>
            <a:r>
              <a:rPr lang="zh-CN" altLang="en-US" sz="3200" b="1"/>
              <a:t>预测（</a:t>
            </a:r>
            <a:r>
              <a:rPr lang="en-US" altLang="zh-CN" sz="3200" b="1"/>
              <a:t>MLP</a:t>
            </a:r>
            <a:r>
              <a:rPr lang="zh-CN" altLang="en-US" sz="3200" b="1"/>
              <a:t>用于回归任务）</a:t>
            </a:r>
            <a:r>
              <a:rPr lang="en-US" altLang="zh-CN" sz="2800" b="1"/>
              <a:t> </a:t>
            </a:r>
            <a:endParaRPr lang="en-US" altLang="zh-CN" sz="2800" b="1"/>
          </a:p>
        </p:txBody>
      </p:sp>
      <p:sp>
        <p:nvSpPr>
          <p:cNvPr id="5" name="文本框 4"/>
          <p:cNvSpPr txBox="1"/>
          <p:nvPr/>
        </p:nvSpPr>
        <p:spPr>
          <a:xfrm>
            <a:off x="99695" y="6582410"/>
            <a:ext cx="484695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/>
              <a:t>来源：https://www.kaggle.com/competitions/playground-series-s4e4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0" y="969010"/>
            <a:ext cx="6972300" cy="5207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2686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任务介绍</a:t>
            </a:r>
            <a:endParaRPr lang="zh-CN" altLang="en-US" sz="3200" b="1"/>
          </a:p>
        </p:txBody>
      </p:sp>
      <p:sp>
        <p:nvSpPr>
          <p:cNvPr id="3" name="文本框 2"/>
          <p:cNvSpPr txBox="1"/>
          <p:nvPr/>
        </p:nvSpPr>
        <p:spPr>
          <a:xfrm>
            <a:off x="405130" y="1161415"/>
            <a:ext cx="11256645" cy="163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数据集：</a:t>
            </a:r>
            <a:r>
              <a:rPr lang="en-US" altLang="zh-CN" sz="2400"/>
              <a:t>taxi_trip_pricing</a:t>
            </a:r>
            <a:r>
              <a:rPr lang="zh-CN" altLang="en-US" sz="2400"/>
              <a:t>.csv</a:t>
            </a:r>
            <a:r>
              <a:rPr lang="en-US" altLang="zh-CN" sz="2400"/>
              <a:t> </a:t>
            </a:r>
            <a:r>
              <a:rPr lang="zh-CN" altLang="en-US" sz="2400"/>
              <a:t> 包含了包含了 </a:t>
            </a:r>
            <a:r>
              <a:rPr lang="en-US" altLang="zh-CN" sz="2400"/>
              <a:t>1</a:t>
            </a:r>
            <a:r>
              <a:rPr lang="zh-CN" altLang="en-US" sz="2400"/>
              <a:t>000 条关于鲍鱼的数据。</a:t>
            </a: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任务目标：预测出租车</a:t>
            </a:r>
            <a:r>
              <a:rPr lang="zh-CN" altLang="en-US" sz="2400"/>
              <a:t>费用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405130" y="2875280"/>
            <a:ext cx="604456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评估指标：均方对数误差 (RMSLE)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/>
          </a:p>
          <a:p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要求：50个epoch内，</a:t>
            </a:r>
            <a:r>
              <a:rPr sz="2400"/>
              <a:t>在测试集上的RMSLE小于0.</a:t>
            </a:r>
            <a:r>
              <a:rPr lang="en-US" sz="2400"/>
              <a:t>6</a:t>
            </a:r>
            <a:endParaRPr 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00" y="3453765"/>
            <a:ext cx="4249420" cy="8070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2686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读取数据集</a:t>
            </a:r>
            <a:endParaRPr lang="zh-CN" altLang="en-US" sz="32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2570"/>
            <a:ext cx="11426825" cy="34493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026140" y="3352800"/>
            <a:ext cx="807720" cy="184404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097135" y="5379720"/>
            <a:ext cx="2026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出租车费用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86180" y="295910"/>
            <a:ext cx="2711450" cy="597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spcAft>
                <a:spcPts val="600"/>
              </a:spcAft>
            </a:pPr>
            <a:r>
              <a:rPr lang="zh-CN" altLang="en-US" sz="3200" b="1"/>
              <a:t>数据预处理</a:t>
            </a:r>
            <a:endParaRPr lang="zh-CN" altLang="en-US" sz="3200" b="1"/>
          </a:p>
          <a:p>
            <a:pPr indent="0" algn="ctr" fontAlgn="auto">
              <a:spcAft>
                <a:spcPts val="600"/>
              </a:spcAft>
            </a:pPr>
            <a:endParaRPr lang="zh-CN" altLang="en-US" sz="3200" b="1"/>
          </a:p>
          <a:p>
            <a:pPr indent="0" algn="ctr" fontAlgn="auto">
              <a:spcAft>
                <a:spcPts val="600"/>
              </a:spcAft>
            </a:pPr>
            <a:r>
              <a:rPr lang="zh-CN" altLang="en-US" sz="3200" b="1"/>
              <a:t>数据集划分</a:t>
            </a:r>
            <a:endParaRPr lang="zh-CN" altLang="en-US" sz="3200" b="1"/>
          </a:p>
          <a:p>
            <a:pPr indent="0" algn="ctr" fontAlgn="auto">
              <a:spcAft>
                <a:spcPts val="600"/>
              </a:spcAft>
            </a:pPr>
            <a:endParaRPr lang="zh-CN" altLang="en-US" sz="3200" b="1"/>
          </a:p>
          <a:p>
            <a:pPr indent="0" algn="ctr" fontAlgn="auto">
              <a:spcAft>
                <a:spcPts val="600"/>
              </a:spcAft>
            </a:pPr>
            <a:r>
              <a:rPr lang="zh-CN" altLang="en-US" sz="3200" b="1"/>
              <a:t>创建数据集类</a:t>
            </a:r>
            <a:endParaRPr lang="zh-CN" altLang="en-US" sz="3200" b="1"/>
          </a:p>
          <a:p>
            <a:pPr indent="0" algn="ctr" fontAlgn="auto">
              <a:spcAft>
                <a:spcPts val="600"/>
              </a:spcAft>
            </a:pPr>
            <a:endParaRPr lang="zh-CN" altLang="en-US" sz="3200" b="1"/>
          </a:p>
          <a:p>
            <a:pPr indent="0" algn="ctr" fontAlgn="auto">
              <a:spcAft>
                <a:spcPts val="600"/>
              </a:spcAft>
            </a:pPr>
            <a:r>
              <a:rPr lang="zh-CN" altLang="en-US" sz="3200" b="1">
                <a:sym typeface="+mn-ea"/>
              </a:rPr>
              <a:t>构建</a:t>
            </a:r>
            <a:r>
              <a:rPr lang="en-US" altLang="zh-CN" sz="3200" b="1">
                <a:sym typeface="+mn-ea"/>
              </a:rPr>
              <a:t>MLP</a:t>
            </a:r>
            <a:r>
              <a:rPr lang="zh-CN" altLang="en-US" sz="3200" b="1">
                <a:sym typeface="+mn-ea"/>
              </a:rPr>
              <a:t>网络</a:t>
            </a:r>
            <a:endParaRPr lang="zh-CN" altLang="en-US" sz="3200" b="1">
              <a:sym typeface="+mn-ea"/>
            </a:endParaRPr>
          </a:p>
          <a:p>
            <a:pPr indent="0" algn="ctr" fontAlgn="auto">
              <a:spcAft>
                <a:spcPts val="600"/>
              </a:spcAft>
            </a:pPr>
            <a:endParaRPr lang="zh-CN" altLang="en-US" sz="3200" b="1">
              <a:sym typeface="+mn-ea"/>
            </a:endParaRPr>
          </a:p>
          <a:p>
            <a:pPr indent="0" algn="ctr" fontAlgn="auto">
              <a:spcAft>
                <a:spcPts val="600"/>
              </a:spcAft>
            </a:pPr>
            <a:r>
              <a:rPr lang="zh-CN" sz="3200" b="1">
                <a:sym typeface="+mn-ea"/>
              </a:rPr>
              <a:t>训练与测试</a:t>
            </a:r>
            <a:endParaRPr lang="zh-CN" sz="3200" b="1">
              <a:sym typeface="+mn-ea"/>
            </a:endParaRPr>
          </a:p>
          <a:p>
            <a:pPr indent="0" algn="ctr" fontAlgn="auto">
              <a:spcAft>
                <a:spcPts val="600"/>
              </a:spcAft>
            </a:pPr>
            <a:endParaRPr lang="zh-CN" sz="3200" b="1">
              <a:sym typeface="+mn-ea"/>
            </a:endParaRPr>
          </a:p>
          <a:p>
            <a:pPr indent="0" algn="ctr" fontAlgn="auto">
              <a:spcAft>
                <a:spcPts val="600"/>
              </a:spcAft>
            </a:pPr>
            <a:r>
              <a:rPr lang="zh-CN" altLang="en-US" sz="3200" b="1"/>
              <a:t>模型评估</a:t>
            </a:r>
            <a:endParaRPr lang="zh-CN" altLang="en-US" sz="3200" b="1"/>
          </a:p>
          <a:p>
            <a:endParaRPr lang="zh-CN" altLang="en-US" sz="3200" b="1"/>
          </a:p>
          <a:p>
            <a:endParaRPr lang="zh-CN" altLang="en-US" sz="3200" b="1"/>
          </a:p>
          <a:p>
            <a:endParaRPr lang="zh-CN" altLang="en-US" sz="3200" b="1"/>
          </a:p>
          <a:p>
            <a:endParaRPr lang="zh-CN" altLang="en-US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4171950" y="351790"/>
            <a:ext cx="59772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>
                <a:solidFill>
                  <a:srgbClr val="00B0F0"/>
                </a:solidFill>
              </a:rPr>
              <a:t>处理特征（类别型转换为编码，数值型标准化）</a:t>
            </a:r>
            <a:endParaRPr lang="zh-CN" sz="2000">
              <a:solidFill>
                <a:srgbClr val="00B0F0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2550795" y="838835"/>
            <a:ext cx="0" cy="6057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550795" y="1958975"/>
            <a:ext cx="0" cy="6057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550795" y="3151505"/>
            <a:ext cx="0" cy="6057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2550795" y="4225925"/>
            <a:ext cx="0" cy="6057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226560" y="4925060"/>
            <a:ext cx="5977255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000">
                <a:solidFill>
                  <a:srgbClr val="00B0F0"/>
                </a:solidFill>
              </a:rPr>
              <a:t>补充训练与测试部分代码</a:t>
            </a:r>
            <a:endParaRPr lang="zh-CN" sz="2000">
              <a:solidFill>
                <a:srgbClr val="00B0F0"/>
              </a:solidFill>
            </a:endParaRPr>
          </a:p>
          <a:p>
            <a:endParaRPr lang="zh-CN" sz="2000">
              <a:solidFill>
                <a:srgbClr val="00B0F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226560" y="3789045"/>
            <a:ext cx="3091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>
                <a:solidFill>
                  <a:srgbClr val="00B0F0"/>
                </a:solidFill>
              </a:rPr>
              <a:t>定义模型结构</a:t>
            </a:r>
            <a:endParaRPr lang="zh-CN" sz="2000">
              <a:solidFill>
                <a:srgbClr val="00B0F0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2550795" y="5333365"/>
            <a:ext cx="0" cy="6057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226560" y="607060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000">
                <a:solidFill>
                  <a:srgbClr val="00B0F0"/>
                </a:solidFill>
                <a:sym typeface="+mn-ea"/>
              </a:rPr>
              <a:t>定义评估指标：均方对数误差 (RMSLE)</a:t>
            </a:r>
            <a:endParaRPr lang="zh-CN" altLang="en-US" sz="2000">
              <a:solidFill>
                <a:srgbClr val="00B0F0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 b="1"/>
              <a:t>范例结果</a:t>
            </a:r>
            <a:endParaRPr lang="zh-CN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1635125" y="5141595"/>
            <a:ext cx="31299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000"/>
              <a:t>测试集</a:t>
            </a:r>
            <a:r>
              <a:rPr sz="2000"/>
              <a:t>RMSLE: 0.</a:t>
            </a:r>
            <a:r>
              <a:rPr lang="en-US" sz="2000"/>
              <a:t>56</a:t>
            </a:r>
            <a:endParaRPr 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125" y="1082040"/>
            <a:ext cx="5669280" cy="39490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200" y="224155"/>
            <a:ext cx="8463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 b="1"/>
              <a:t>作业提交</a:t>
            </a:r>
            <a:endParaRPr lang="zh-CN" sz="3200" b="1"/>
          </a:p>
        </p:txBody>
      </p:sp>
      <p:sp>
        <p:nvSpPr>
          <p:cNvPr id="5" name="文本框 4"/>
          <p:cNvSpPr txBox="1"/>
          <p:nvPr/>
        </p:nvSpPr>
        <p:spPr>
          <a:xfrm>
            <a:off x="264160" y="1308735"/>
            <a:ext cx="11989435" cy="2691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北航云盘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https://bhpan.buaa.edu.cn/link/AA0B1469B6096C4D338E106E64CCCA3B67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文件夹名：深度学习基础与实践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有效期限：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2026-04-23 17:31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提交内容：jupyter notebook和转成的PDF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提交格式：压缩打包成 “学号-姓名.zip”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commondata" val="eyJoZGlkIjoiZTNlOTBkMmZhOWNhOThmMTAwNmExNTc0ZTQwNDZiMD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1858</Words>
  <Application>WPS 演示</Application>
  <PresentationFormat>宽屏</PresentationFormat>
  <Paragraphs>187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《深度学习基础与实践》 HW1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云耀鑫</cp:lastModifiedBy>
  <cp:revision>234</cp:revision>
  <dcterms:created xsi:type="dcterms:W3CDTF">2019-06-19T02:08:00Z</dcterms:created>
  <dcterms:modified xsi:type="dcterms:W3CDTF">2026-03-24T09:40:28Z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D103985AD0C4496897531129E4D386FC_11</vt:lpwstr>
  </property>
</Properties>
</file>